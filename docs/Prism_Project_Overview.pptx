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560320"/>
            <a:ext cx="137160" cy="50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4F7FF"/>
                </a:solidFill>
                <a:latin typeface="Calibri"/>
              </a:rPr>
              <a:t>Prism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4B8A6"/>
                </a:solidFill>
                <a:latin typeface="Calibri"/>
              </a:rPr>
              <a:t>AI-Powered Incident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7B0C5"/>
                </a:solidFill>
                <a:latin typeface="Calibri"/>
              </a:rPr>
              <a:t>From telemetry signal to human-approved remediation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7B0C5"/>
                </a:solidFill>
                <a:latin typeface="Calibri"/>
              </a:rPr>
              <a:t>Author: Upadhyayula Avinash  |  October 2026  |  NTT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7FF"/>
                </a:solidFill>
                <a:latin typeface="Calibri"/>
              </a:rPr>
              <a:t>The Operational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B0C5"/>
                </a:solidFill>
                <a:latin typeface="Calibri"/>
              </a:rPr>
              <a:t>Why existing workflows break under production pressure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3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F4F7FF"/>
                </a:solidFill>
                <a:latin typeface="Calibri"/>
              </a:rPr>
              <a:t>  Production errors demand immediate, structured investigation -- but teams are overwhelmed.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4F7FF"/>
                </a:solidFill>
                <a:latin typeface="Calibri"/>
              </a:rPr>
              <a:t>  Logs, source context, ticketing, notifications, and Pull Requests are fragmented, manual steps.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4F7FF"/>
                </a:solidFill>
                <a:latin typeface="Calibri"/>
              </a:rPr>
              <a:t>  On-call engineers repeat the same investigative patterns for every incident.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4F7FF"/>
                </a:solidFill>
                <a:latin typeface="Calibri"/>
              </a:rPr>
              <a:t>  There is no consistent, auditable chain from a raw error to a safe, reviewed remediation.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4F7FF"/>
                </a:solidFill>
                <a:latin typeface="Calibri"/>
              </a:rPr>
              <a:t>  The result: slower MTTR, inconsistent quality, and accountability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7FF"/>
                </a:solidFill>
                <a:latin typeface="Calibri"/>
              </a:rPr>
              <a:t>What is Prism?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B0C5"/>
                </a:solidFill>
                <a:latin typeface="Calibri"/>
              </a:rPr>
              <a:t>The platform that closes the gap between alert and remedy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3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F4F7FF"/>
                </a:solidFill>
                <a:latin typeface="Calibri"/>
              </a:rPr>
              <a:t>  Receives OpenTelemetry log signals from MuleSoft/Anypoint or any compatible application.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4F7FF"/>
                </a:solidFill>
                <a:latin typeface="Calibri"/>
              </a:rPr>
              <a:t>  Classifies severity, detects technology context, and deduplicates repeated errors automatically.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4F7FF"/>
                </a:solidFill>
                <a:latin typeface="Calibri"/>
              </a:rPr>
              <a:t>  Uses a configurable LLM to produce a Root Cause Analysis (RCA) with a confidence score.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4F7FF"/>
                </a:solidFill>
                <a:latin typeface="Calibri"/>
              </a:rPr>
              <a:t>  Generates a concrete code fix, a quality reflection, an RCA PDF report, and a unified patch.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4F7FF"/>
                </a:solidFill>
                <a:latin typeface="Calibri"/>
              </a:rPr>
              <a:t>  Pauses for a human reviewer to approve, reject, or request a revised fix.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4F7FF"/>
                </a:solidFill>
                <a:latin typeface="Calibri"/>
              </a:rPr>
              <a:t>  After approval: sends notifications, creates a Jira ticket, opens a GitHub Pull Request.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B8A6"/>
                </a:solidFill>
                <a:latin typeface="Calibri"/>
              </a:rPr>
              <a:t>Automation accelerates
evidence gathering.
People decide what ships.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7FF"/>
                </a:solidFill>
                <a:latin typeface="Calibri"/>
              </a:rP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B0C5"/>
                </a:solidFill>
                <a:latin typeface="Calibri"/>
              </a:rPr>
              <a:t>Two services, one AI workflow, one shared data 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3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pris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84280" cy="70835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7FF"/>
                </a:solidFill>
                <a:latin typeface="Calibri"/>
              </a:rPr>
              <a:t>The 11-Step LangGraph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B0C5"/>
                </a:solidFill>
                <a:latin typeface="Calibri"/>
              </a:rPr>
              <a:t>Retryable, durable, and pause-safe by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3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4B8A6"/>
                </a:solidFill>
                <a:latin typeface="Calibri"/>
              </a:rPr>
              <a:t>Pre-approval (automated)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F4F7FF"/>
                </a:solidFill>
                <a:latin typeface="Calibri"/>
              </a:rPr>
              <a:t>  1. assess_severity  -- Classify from OTLP signal; fire 'Incident Created' notification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F4F7FF"/>
                </a:solidFill>
                <a:latin typeface="Calibri"/>
              </a:rPr>
              <a:t>  2. generate_rca  -- LLM RCA with confidence score; fetches live GitHub/Anypoint context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F4F7FF"/>
                </a:solidFill>
                <a:latin typeface="Calibri"/>
              </a:rPr>
              <a:t>  3. generate_fix  -- LLM-generated code fix with explanation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F4F7FF"/>
                </a:solidFill>
                <a:latin typeface="Calibri"/>
              </a:rPr>
              <a:t>  4. generate_pdf  -- RCA PDF report saved to data/pdfs/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F4F7FF"/>
                </a:solidFill>
                <a:latin typeface="Calibri"/>
              </a:rPr>
              <a:t>  5. reflect  -- Quality scores: correctness, safety, code quality, completeness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F4F7FF"/>
                </a:solidFill>
                <a:latin typeface="Calibri"/>
              </a:rPr>
              <a:t>  6. generate_patch  -- Unified .patch file saved to data/patches/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F4F7FF"/>
                </a:solidFill>
                <a:latin typeface="Calibri"/>
              </a:rPr>
              <a:t>  7. await_approval  -- PAUSE: human reviews RCA, fix diff, and patch before deciding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61872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2B84B"/>
                </a:solidFill>
                <a:latin typeface="Calibri"/>
              </a:rPr>
              <a:t>Post-approval (automated)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F4F7FF"/>
                </a:solidFill>
                <a:latin typeface="Calibri"/>
              </a:rPr>
              <a:t>  8. send_notifications  -- Slack / Teams webhooks (from per-project DB config)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F4F7FF"/>
                </a:solidFill>
                <a:latin typeface="Calibri"/>
              </a:rPr>
              <a:t>  9. create_jira  -- Jira ticket, patch attachment, branch/commit/PR synced to DevInfo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F4F7FF"/>
                </a:solidFill>
                <a:latin typeface="Calibri"/>
              </a:rPr>
              <a:t>  10. create_pr  -- GitHub branch, commit fixed file, open Pull Request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F4F7FF"/>
                </a:solidFill>
                <a:latin typeface="Calibri"/>
              </a:rPr>
              <a:t>  11. finalize  -- Persist final status, timestamps, and all integration artifact URLs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7FF"/>
                </a:solidFill>
                <a:latin typeface="Calibri"/>
              </a:rPr>
              <a:t>The Incident Journey in Six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B0C5"/>
                </a:solidFill>
                <a:latin typeface="Calibri"/>
              </a:rPr>
              <a:t>Prism accelerates the journey; humans govern the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3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incident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84280" cy="39212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7FF"/>
                </a:solidFill>
                <a:latin typeface="Calibri"/>
              </a:rPr>
              <a:t>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B0C5"/>
                </a:solidFill>
                <a:latin typeface="Calibri"/>
              </a:rPr>
              <a:t>Everything a team needs from alert to remedy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3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OTLP intake with technology detection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SimHash error deduplication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Severity classification (HIGH / CRITICAL)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LLM-generated RCA with confidence score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LLM-generated code fix and explanation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Quality reflection (4-axis scoring)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261872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Auto-generated RCA PDF report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Downloadable unified diff patch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Approve / reject / regenerate with feedback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Post-approval: Slack/Teams notification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Post-approval: Jira ticket + patch attach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Post-approval: GitHub branch + commit + 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61872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Durable workflow runs and step events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Governed post-approval recovery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Multi-tenant project isolation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Per-project encrypted credentials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Role-based access (Admin / TA / User)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Security audit trail and CSV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7FF"/>
                </a:solidFill>
                <a:latin typeface="Calibri"/>
              </a:rPr>
              <a:t>Role, Tenant &amp; Project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B0C5"/>
                </a:solidFill>
                <a:latin typeface="Calibri"/>
              </a:rPr>
              <a:t>Clean separation of platform, configuration, and review concerns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3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role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84280" cy="35417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7FF"/>
                </a:solidFill>
                <a:latin typeface="Calibri"/>
              </a:rPr>
              <a:t>Security, Governance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B0C5"/>
                </a:solidFill>
                <a:latin typeface="Calibri"/>
              </a:rPr>
              <a:t>Fail-closed by default; every action is auditable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3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security_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84280" cy="4047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7FF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B0C5"/>
                </a:solidFill>
                <a:latin typeface="Calibri"/>
              </a:rPr>
              <a:t>Pragmatic, proven, and provider-swappable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3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technology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84280" cy="45936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7FF"/>
                </a:solidFill>
                <a:latin typeface="Calibri"/>
              </a:rPr>
              <a:t>Verified Local Example: Incident NTTD6XI2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B0C5"/>
                </a:solidFill>
                <a:latin typeface="Calibri"/>
              </a:rPr>
              <a:t>Real evidence from the local Prism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3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Application: order-processing-service  |  Environment: Production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Severity: CRITICAL  |  Status: PR_CREATED  |  Technology: MuleSoft / DataWeave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RCA confidence: 87.5%  |  Approval: approved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Jira ticket: SCRUM-12  |  GitHub PR: #61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Root cause: DataWeave coercion of a missing orderDate field to Date type caused CRITICAL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production failure.  Fix: null-safe existence check with explicit date format.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Full run: RCA generated in 165 s  |  Fix generated in 178 s  |  Patch in 0.06 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4F7FF"/>
                </a:solidFill>
                <a:latin typeface="Calibri"/>
              </a:rPr>
              <a:t>  Post-approval workflow completed in 65 s  |  Total: ~7.5 minutes end-to-end.</a:t>
            </a:r>
          </a:p>
        </p:txBody>
      </p:sp>
      <p:pic>
        <p:nvPicPr>
          <p:cNvPr id="6" name="Picture 5" descr="03_verified_inciden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261872"/>
            <a:ext cx="4069080" cy="22153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7FF"/>
                </a:solidFill>
                <a:latin typeface="Calibri"/>
              </a:rPr>
              <a:t>Integration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B0C5"/>
                </a:solidFill>
                <a:latin typeface="Calibri"/>
              </a:rPr>
              <a:t>Every integration is per-project, encrypted, and optional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3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Calibri"/>
              </a:rPr>
              <a:t>LLM 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173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Calibri"/>
              </a:rPr>
              <a:t>OpenAI, Anthropic, Azure OpenAI, Gemini, Groq, or local Ollama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11155680" cy="4000"/>
          </a:xfrm>
          <a:prstGeom prst="rect">
            <a:avLst/>
          </a:prstGeom>
          <a:solidFill>
            <a:srgbClr val="1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5CFC"/>
                </a:solidFill>
                <a:latin typeface="Calibri"/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4028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Calibri"/>
              </a:rPr>
              <a:t>Code fetch, branch/commit/PR creation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24328"/>
            <a:ext cx="11155680" cy="4000"/>
          </a:xfrm>
          <a:prstGeom prst="rect">
            <a:avLst/>
          </a:prstGeom>
          <a:solidFill>
            <a:srgbClr val="1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Calibri"/>
              </a:rPr>
              <a:t>Jira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06324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Calibri"/>
              </a:rPr>
              <a:t>Ticket creation, patch attach, DevInfo sync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47288"/>
            <a:ext cx="11155680" cy="4000"/>
          </a:xfrm>
          <a:prstGeom prst="rect">
            <a:avLst/>
          </a:prstGeom>
          <a:solidFill>
            <a:srgbClr val="1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5CFC"/>
                </a:solidFill>
                <a:latin typeface="Calibri"/>
              </a:rPr>
              <a:t>Slack /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88620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Calibri"/>
              </a:rPr>
              <a:t>Incident and workflow event notifications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70248"/>
            <a:ext cx="11155680" cy="4000"/>
          </a:xfrm>
          <a:prstGeom prst="rect">
            <a:avLst/>
          </a:prstGeom>
          <a:solidFill>
            <a:srgbClr val="1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09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Calibri"/>
              </a:rPr>
              <a:t>MuleSoft Anypoint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7091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Calibri"/>
              </a:rPr>
              <a:t>Live CloudHub/ARM runtime context for richer RCA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93208"/>
            <a:ext cx="11155680" cy="4000"/>
          </a:xfrm>
          <a:prstGeom prst="rect">
            <a:avLst/>
          </a:prstGeom>
          <a:solidFill>
            <a:srgbClr val="1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7FF"/>
                </a:solidFill>
                <a:latin typeface="Calibri"/>
              </a:rPr>
              <a:t>Current Boundary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B0C5"/>
                </a:solidFill>
                <a:latin typeface="Calibri"/>
              </a:rPr>
              <a:t>Honest about what Prism does and does not do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3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B8A6"/>
                </a:solidFill>
                <a:latin typeface="Calibri"/>
              </a:rPr>
              <a:t>What Prism does today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4F7FF"/>
                </a:solidFill>
                <a:latin typeface="Calibri"/>
              </a:rPr>
              <a:t>  OTLP logs and derived incidents are fully persisted and rendered.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4F7FF"/>
                </a:solidFill>
                <a:latin typeface="Calibri"/>
              </a:rPr>
              <a:t>  Workflow runs, step events, and security audit records are durable and queryable.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4F7FF"/>
                </a:solidFill>
                <a:latin typeface="Calibri"/>
              </a:rPr>
              <a:t>  RCA, fix, quality reflection, PDF, and patch are generated when LLM is configured.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4F7FF"/>
                </a:solidFill>
                <a:latin typeface="Calibri"/>
              </a:rPr>
              <a:t>  Post-approval Jira/GitHub/Slack require valid per-project integration credentials.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2B84B"/>
                </a:solidFill>
                <a:latin typeface="Calibri"/>
              </a:rPr>
              <a:t>Near-term planned improvements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4F7FF"/>
                </a:solidFill>
                <a:latin typeface="Calibri"/>
              </a:rPr>
              <a:t>  Trace and metric signals are acknowledged today; full persistence is a planned next step.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4F7FF"/>
                </a:solidFill>
                <a:latin typeface="Calibri"/>
              </a:rPr>
              <a:t>  Fix proposals require human review; auto-merge is not on the near-term roadmap.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4F7FF"/>
                </a:solidFill>
                <a:latin typeface="Calibri"/>
              </a:rPr>
              <a:t>  Expanded CI/CD feedback loops and static-analysis signals to improve RCA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B8A6"/>
                </a:solidFill>
                <a:latin typeface="Calibri"/>
              </a:rPr>
              <a:t>Prism is designed to be honest
about its boundaries -- no silent
failures, no fabricated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7FF"/>
                </a:solidFill>
                <a:latin typeface="Calibri"/>
              </a:rPr>
              <a:t>Adoption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B0C5"/>
                </a:solidFill>
                <a:latin typeface="Calibri"/>
              </a:rPr>
              <a:t>From zero to a governed, production-ready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3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F4F7FF"/>
                </a:solidFill>
                <a:latin typeface="Calibri"/>
              </a:rPr>
              <a:t>  1. Deploy Prism with production security settings and a durable, shared encryption key.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4F7FF"/>
                </a:solidFill>
                <a:latin typeface="Calibri"/>
              </a:rPr>
              <a:t>  2. As admin: create a project and assign a Team Admin.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4F7FF"/>
                </a:solidFill>
                <a:latin typeface="Calibri"/>
              </a:rPr>
              <a:t>  3. As Team Admin: configure LLM, then optionally GitHub, Jira, Slack/Teams.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4F7FF"/>
                </a:solidFill>
                <a:latin typeface="Calibri"/>
              </a:rPr>
              <a:t>  4. Issue a project ingestion key; configure collector/gateway to forward OTLP to Prism.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4F7FF"/>
                </a:solidFill>
                <a:latin typeface="Calibri"/>
              </a:rPr>
              <a:t>  5. Run a controlled first incident: verify RCA quality, approval flow, and downstream delivery.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4F7FF"/>
                </a:solidFill>
                <a:latin typeface="Calibri"/>
              </a:rPr>
              <a:t>  6. Measure review time, workflow success rate, and remediation quality; tune thresholds.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4F7FF"/>
                </a:solidFill>
                <a:latin typeface="Calibri"/>
              </a:rPr>
              <a:t>  7. Expand to additional projects and teams with confidence.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377440"/>
            <a:ext cx="13716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4F7FF"/>
                </a:solidFill>
                <a:latin typeface="Calibri"/>
              </a:rPr>
              <a:t>Prism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4B8A6"/>
                </a:solidFill>
                <a:latin typeface="Calibri"/>
              </a:rPr>
              <a:t>Autonomous evidence gathering. Human accountability.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7B0C5"/>
                </a:solidFill>
                <a:latin typeface="Calibri"/>
              </a:rPr>
              <a:t>Automate what machines do well. Reserve decisions for people.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7B0C5"/>
                </a:solidFill>
                <a:latin typeface="Calibri"/>
              </a:rPr>
              <a:t>GitHub: https://github.com/u-avinash  |  LinkedIn: https://www.linkedin.com/in/avinash-upadhyayula/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