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77240" y="0"/>
            <a:ext cx="0" cy="6858000"/>
          </a:xfrm>
          <a:prstGeom prst="line">
            <a:avLst/>
          </a:prstGeom>
          <a:ln w="6350">
            <a:solidFill>
              <a:srgbClr val="1020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965960" y="0"/>
            <a:ext cx="0" cy="6858000"/>
          </a:xfrm>
          <a:prstGeom prst="line">
            <a:avLst/>
          </a:prstGeom>
          <a:ln w="6350">
            <a:solidFill>
              <a:srgbClr val="1020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154680" y="0"/>
            <a:ext cx="0" cy="6858000"/>
          </a:xfrm>
          <a:prstGeom prst="line">
            <a:avLst/>
          </a:prstGeom>
          <a:ln w="6350">
            <a:solidFill>
              <a:srgbClr val="1020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343400" y="0"/>
            <a:ext cx="0" cy="6858000"/>
          </a:xfrm>
          <a:prstGeom prst="line">
            <a:avLst/>
          </a:prstGeom>
          <a:ln w="6350">
            <a:solidFill>
              <a:srgbClr val="1020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532120" y="0"/>
            <a:ext cx="0" cy="6858000"/>
          </a:xfrm>
          <a:prstGeom prst="line">
            <a:avLst/>
          </a:prstGeom>
          <a:ln w="6350">
            <a:solidFill>
              <a:srgbClr val="1020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720840" y="0"/>
            <a:ext cx="0" cy="6858000"/>
          </a:xfrm>
          <a:prstGeom prst="line">
            <a:avLst/>
          </a:prstGeom>
          <a:ln w="6350">
            <a:solidFill>
              <a:srgbClr val="1020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909560" y="0"/>
            <a:ext cx="0" cy="6858000"/>
          </a:xfrm>
          <a:prstGeom prst="line">
            <a:avLst/>
          </a:prstGeom>
          <a:ln w="6350">
            <a:solidFill>
              <a:srgbClr val="1020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098280" y="0"/>
            <a:ext cx="0" cy="6858000"/>
          </a:xfrm>
          <a:prstGeom prst="line">
            <a:avLst/>
          </a:prstGeom>
          <a:ln w="6350">
            <a:solidFill>
              <a:srgbClr val="1020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6350">
            <a:solidFill>
              <a:srgbClr val="1020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6350">
            <a:solidFill>
              <a:srgbClr val="1020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6350">
            <a:solidFill>
              <a:srgbClr val="1020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6350">
            <a:solidFill>
              <a:srgbClr val="1020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6350">
            <a:solidFill>
              <a:srgbClr val="1020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6350">
            <a:solidFill>
              <a:srgbClr val="1020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5577840"/>
            <a:ext cx="12191695" cy="0"/>
          </a:xfrm>
          <a:prstGeom prst="line">
            <a:avLst/>
          </a:prstGeom>
          <a:ln w="6350">
            <a:solidFill>
              <a:srgbClr val="1020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726679" y="640080"/>
            <a:ext cx="3383280" cy="3383280"/>
          </a:xfrm>
          <a:prstGeom prst="roundRect">
            <a:avLst>
              <a:gd name="adj" fmla="val 8000"/>
            </a:avLst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0" y="1143000"/>
            <a:ext cx="2377440" cy="23774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32520" y="164592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35440" y="2148840"/>
            <a:ext cx="365760" cy="365760"/>
          </a:xfrm>
          <a:prstGeom prst="roundRect">
            <a:avLst>
              <a:gd name="adj" fmla="val 8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1143000"/>
            <a:ext cx="5760720" cy="22860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TECHNICAL ARCHITECTURE  / 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1572768"/>
            <a:ext cx="7132320" cy="74980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100" b="1" i="0">
                <a:solidFill>
                  <a:srgbClr val="F8FAFC"/>
                </a:solidFill>
                <a:latin typeface="Aptos Display"/>
              </a:rPr>
              <a:t>PRISM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2487168"/>
            <a:ext cx="6583680" cy="73152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200" b="0" i="0">
                <a:solidFill>
                  <a:srgbClr val="D6E7F8"/>
                </a:solidFill>
                <a:latin typeface="Aptos Display"/>
              </a:rPr>
              <a:t>Governed AI for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200" b="0" i="0">
                <a:solidFill>
                  <a:srgbClr val="D6E7F8"/>
                </a:solidFill>
                <a:latin typeface="Aptos Display"/>
              </a:rPr>
              <a:t>production incident response.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3520440"/>
            <a:ext cx="100584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3794760"/>
            <a:ext cx="6355080" cy="64008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A5B4C7"/>
                </a:solidFill>
                <a:latin typeface="Aptos"/>
              </a:rPr>
              <a:t>From OpenTelemetry signals to a reviewable RCA, proposed code fix, and pull request — with a human decision at the center.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828032"/>
            <a:ext cx="896112" cy="283464"/>
          </a:xfrm>
          <a:prstGeom prst="roundRect">
            <a:avLst>
              <a:gd name="adj" fmla="val 8000"/>
            </a:avLst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4839004"/>
            <a:ext cx="896112" cy="219456"/>
          </a:xfrm>
          <a:prstGeom prst="rect">
            <a:avLst/>
          </a:prstGeom>
          <a:noFill/>
        </p:spPr>
        <p:txBody>
          <a:bodyPr wrap="square" lIns="63500" rIns="63500" t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60" b="1" i="0">
                <a:solidFill>
                  <a:srgbClr val="22D3EE"/>
                </a:solidFill>
                <a:latin typeface="Aptos"/>
              </a:rPr>
              <a:t>OTEL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719072" y="4828032"/>
            <a:ext cx="1188720" cy="283464"/>
          </a:xfrm>
          <a:prstGeom prst="roundRect">
            <a:avLst>
              <a:gd name="adj" fmla="val 8000"/>
            </a:avLst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19072" y="4839004"/>
            <a:ext cx="1188720" cy="219456"/>
          </a:xfrm>
          <a:prstGeom prst="rect">
            <a:avLst/>
          </a:prstGeom>
          <a:noFill/>
        </p:spPr>
        <p:txBody>
          <a:bodyPr wrap="square" lIns="63500" rIns="63500" t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60" b="1" i="0">
                <a:solidFill>
                  <a:srgbClr val="A78BFA"/>
                </a:solidFill>
                <a:latin typeface="Aptos"/>
              </a:rPr>
              <a:t>LANGGRAPH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17520" y="4828032"/>
            <a:ext cx="1042415" cy="283464"/>
          </a:xfrm>
          <a:prstGeom prst="roundRect">
            <a:avLst>
              <a:gd name="adj" fmla="val 8000"/>
            </a:avLst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4839004"/>
            <a:ext cx="1042415" cy="219456"/>
          </a:xfrm>
          <a:prstGeom prst="rect">
            <a:avLst/>
          </a:prstGeom>
          <a:noFill/>
        </p:spPr>
        <p:txBody>
          <a:bodyPr wrap="square" lIns="63500" rIns="63500" t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60" b="1" i="0">
                <a:solidFill>
                  <a:srgbClr val="34D399"/>
                </a:solidFill>
                <a:latin typeface="Aptos"/>
              </a:rPr>
              <a:t>GITHUB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69663" y="4828032"/>
            <a:ext cx="804672" cy="283464"/>
          </a:xfrm>
          <a:prstGeom prst="roundRect">
            <a:avLst>
              <a:gd name="adj" fmla="val 8000"/>
            </a:avLst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69663" y="4839004"/>
            <a:ext cx="804672" cy="219456"/>
          </a:xfrm>
          <a:prstGeom prst="rect">
            <a:avLst/>
          </a:prstGeom>
          <a:noFill/>
        </p:spPr>
        <p:txBody>
          <a:bodyPr wrap="square" lIns="63500" rIns="63500" t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60" b="1" i="0">
                <a:solidFill>
                  <a:srgbClr val="FBBF24"/>
                </a:solidFill>
                <a:latin typeface="Aptos"/>
              </a:rPr>
              <a:t>JIRA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84064" y="4828032"/>
            <a:ext cx="1280160" cy="283464"/>
          </a:xfrm>
          <a:prstGeom prst="roundRect">
            <a:avLst>
              <a:gd name="adj" fmla="val 8000"/>
            </a:avLst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84064" y="4839004"/>
            <a:ext cx="1280160" cy="219456"/>
          </a:xfrm>
          <a:prstGeom prst="rect">
            <a:avLst/>
          </a:prstGeom>
          <a:noFill/>
        </p:spPr>
        <p:txBody>
          <a:bodyPr wrap="square" lIns="63500" rIns="63500" t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60" b="1" i="0">
                <a:solidFill>
                  <a:srgbClr val="F472B6"/>
                </a:solidFill>
                <a:latin typeface="Aptos"/>
              </a:rPr>
              <a:t>HUMAN GATE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6236208"/>
            <a:ext cx="3657600" cy="18288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A5B4C7"/>
                </a:solidFill>
                <a:latin typeface="Aptos"/>
              </a:rPr>
              <a:t>PRISM  •  TECHNICAL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5943600" cy="20116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22D3EE"/>
                </a:solidFill>
                <a:latin typeface="Aptos Display"/>
              </a:rP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8"/>
            <a:ext cx="10881360" cy="47548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8FAFC"/>
                </a:solidFill>
                <a:latin typeface="Aptos Display"/>
              </a:rPr>
              <a:t>Compress incident response — without bypassing engineering judgement.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607040" cy="29260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A5B4C7"/>
                </a:solidFill>
                <a:latin typeface="Aptos"/>
              </a:rPr>
              <a:t>Prism turns telemetry into an auditable, human-approved remediation package.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35608"/>
            <a:ext cx="68580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320040" cy="20116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A5B4C7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2578608" cy="182880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 w="12700"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057400"/>
            <a:ext cx="411480" cy="27432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Aptos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" y="2487168"/>
            <a:ext cx="475488" cy="475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688336"/>
            <a:ext cx="2029968" cy="25603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Aptos"/>
              </a:rPr>
              <a:t>INGEST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035808"/>
            <a:ext cx="2148840" cy="45720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A5B4C7"/>
                </a:solidFill>
                <a:latin typeface="Aptos"/>
              </a:rPr>
              <a:t>OTLP logs &amp; CI/CD events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A5B4C7"/>
                </a:solidFill>
                <a:latin typeface="Aptos"/>
              </a:rPr>
              <a:t>become project-scoped incidents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2779776"/>
            <a:ext cx="192024" cy="0"/>
          </a:xfrm>
          <a:prstGeom prst="line">
            <a:avLst/>
          </a:prstGeom>
          <a:ln w="22225">
            <a:solidFill>
              <a:srgbClr val="5C6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74519"/>
            <a:ext cx="2578608" cy="182880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 w="12700"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2736" y="2057400"/>
            <a:ext cx="411480" cy="27432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A78BFA"/>
                </a:solidFill>
                <a:latin typeface="Aptos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2736" y="2487168"/>
            <a:ext cx="475488" cy="4754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2736" y="2688336"/>
            <a:ext cx="2029968" cy="25603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Aptos"/>
              </a:rPr>
              <a:t>REASON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2736" y="3035808"/>
            <a:ext cx="2148840" cy="45720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A5B4C7"/>
                </a:solidFill>
                <a:latin typeface="Aptos"/>
              </a:rPr>
              <a:t>AI-assisted severity, RCA,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A5B4C7"/>
                </a:solidFill>
                <a:latin typeface="Aptos"/>
              </a:rPr>
              <a:t>fix &amp; test recommendation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80176" y="2779776"/>
            <a:ext cx="192024" cy="0"/>
          </a:xfrm>
          <a:prstGeom prst="line">
            <a:avLst/>
          </a:prstGeom>
          <a:ln w="22225">
            <a:solidFill>
              <a:srgbClr val="5C6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36208" y="1874519"/>
            <a:ext cx="2578608" cy="182880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 w="12700"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2057400"/>
            <a:ext cx="411480" cy="27432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BBF24"/>
                </a:solidFill>
                <a:latin typeface="Aptos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37376" y="2487168"/>
            <a:ext cx="475488" cy="4754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7376" y="2688336"/>
            <a:ext cx="2029968" cy="25603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Aptos"/>
              </a:rPr>
              <a:t>GOVERN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3035808"/>
            <a:ext cx="2148840" cy="45720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A5B4C7"/>
                </a:solidFill>
                <a:latin typeface="Aptos"/>
              </a:rPr>
              <a:t>Explicit reviewer decision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A5B4C7"/>
                </a:solidFill>
                <a:latin typeface="Aptos"/>
              </a:rPr>
              <a:t>before delivery actions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14816" y="2779776"/>
            <a:ext cx="192024" cy="0"/>
          </a:xfrm>
          <a:prstGeom prst="line">
            <a:avLst/>
          </a:prstGeom>
          <a:ln w="22225">
            <a:solidFill>
              <a:srgbClr val="5C6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70848" y="1874519"/>
            <a:ext cx="2578608" cy="182880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 w="12700"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72016" y="2057400"/>
            <a:ext cx="411480" cy="27432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Aptos"/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72016" y="2487168"/>
            <a:ext cx="475488" cy="475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72016" y="2688336"/>
            <a:ext cx="2029968" cy="25603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Aptos"/>
              </a:rPr>
              <a:t>DELIVER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72016" y="3035808"/>
            <a:ext cx="2148840" cy="45720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A5B4C7"/>
                </a:solidFill>
                <a:latin typeface="Aptos"/>
              </a:rPr>
              <a:t>Jira, GitHub PR &amp; team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A5B4C7"/>
                </a:solidFill>
                <a:latin typeface="Aptos"/>
              </a:rPr>
              <a:t>notifications after approval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297680"/>
            <a:ext cx="10991088" cy="1234440"/>
          </a:xfrm>
          <a:prstGeom prst="roundRect">
            <a:avLst>
              <a:gd name="adj" fmla="val 8000"/>
            </a:avLst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498848"/>
            <a:ext cx="1783080" cy="27432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22D3EE"/>
                </a:solidFill>
                <a:latin typeface="Aptos"/>
              </a:rPr>
              <a:t>THE DESIGN PRINCIPLE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800600"/>
            <a:ext cx="10287000" cy="420624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8FAFC"/>
                </a:solidFill>
                <a:latin typeface="Aptos Display"/>
              </a:rPr>
              <a:t>AI prepares the evidence. Humans authorize the change.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248656"/>
            <a:ext cx="9966960" cy="20116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A5B4C7"/>
                </a:solidFill>
                <a:latin typeface="Aptos"/>
              </a:rPr>
              <a:t>No downstream Jira or GitHub delivery is initiated until an accountable reviewer approves the proposed remediation.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5C6F86"/>
                </a:solidFill>
                <a:latin typeface="Aptos"/>
              </a:rPr>
              <a:t>PRISM  /  AI-ASSISTED INCIDENT RESPONSE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6519672"/>
            <a:ext cx="2331720" cy="16459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C6F86"/>
                </a:solidFill>
                <a:latin typeface="Aptos"/>
              </a:rPr>
              <a:t>Technical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5943600" cy="20116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22D3EE"/>
                </a:solidFill>
                <a:latin typeface="Aptos Display"/>
              </a:rPr>
              <a:t>THE PRISM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8"/>
            <a:ext cx="10881360" cy="47548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8FAFC"/>
                </a:solidFill>
                <a:latin typeface="Aptos Display"/>
              </a:rPr>
              <a:t>A governed path from signal to pull request.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607040" cy="29260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A5B4C7"/>
                </a:solidFill>
                <a:latin typeface="Aptos"/>
              </a:rPr>
              <a:t>Eight purposeful stages replace fragmented hand-offs with one visible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35608"/>
            <a:ext cx="68580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320040" cy="20116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A5B4C7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3852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438912" cy="20116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0B1220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505456"/>
            <a:ext cx="1234440" cy="21031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ptos"/>
              </a:rPr>
              <a:t>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" y="2788920"/>
            <a:ext cx="1344168" cy="38404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30" b="0" i="0">
                <a:solidFill>
                  <a:srgbClr val="A5B4C7"/>
                </a:solidFill>
                <a:latin typeface="Aptos"/>
              </a:rPr>
              <a:t>OTLP log / CI event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08760" y="2157984"/>
            <a:ext cx="338328" cy="585216"/>
          </a:xfrm>
          <a:prstGeom prst="line">
            <a:avLst/>
          </a:prstGeom>
          <a:ln w="20320">
            <a:solidFill>
              <a:srgbClr val="2B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267711" y="321868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67711" y="3291840"/>
            <a:ext cx="438912" cy="20116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0B122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785616"/>
            <a:ext cx="1234440" cy="21031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ptos"/>
              </a:rPr>
              <a:t>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9655" y="4069080"/>
            <a:ext cx="1344168" cy="38404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30" b="0" i="0">
                <a:solidFill>
                  <a:srgbClr val="A5B4C7"/>
                </a:solidFill>
                <a:latin typeface="Aptos"/>
              </a:rPr>
              <a:t>Parse, fingerprint &amp; dedupe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953511" y="2743200"/>
            <a:ext cx="338328" cy="694944"/>
          </a:xfrm>
          <a:prstGeom prst="line">
            <a:avLst/>
          </a:prstGeom>
          <a:ln w="20320">
            <a:solidFill>
              <a:srgbClr val="2B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712464" y="193852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12464" y="2011680"/>
            <a:ext cx="438912" cy="20116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0B1220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9272" y="2505456"/>
            <a:ext cx="1234440" cy="21031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ptos"/>
              </a:rPr>
              <a:t>Assess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64408" y="2788920"/>
            <a:ext cx="1344168" cy="38404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30" b="0" i="0">
                <a:solidFill>
                  <a:srgbClr val="A5B4C7"/>
                </a:solidFill>
                <a:latin typeface="Aptos"/>
              </a:rPr>
              <a:t>Severity + SLA posture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398264" y="2157984"/>
            <a:ext cx="338328" cy="585216"/>
          </a:xfrm>
          <a:prstGeom prst="line">
            <a:avLst/>
          </a:prstGeom>
          <a:ln w="20320">
            <a:solidFill>
              <a:srgbClr val="2B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157216" y="321868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7216" y="3291840"/>
            <a:ext cx="438912" cy="20116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0B1220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4024" y="3785616"/>
            <a:ext cx="1234440" cy="21031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ptos"/>
              </a:rPr>
              <a:t>Investigate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069080"/>
            <a:ext cx="1344168" cy="38404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30" b="0" i="0">
                <a:solidFill>
                  <a:srgbClr val="A5B4C7"/>
                </a:solidFill>
                <a:latin typeface="Aptos"/>
              </a:rPr>
              <a:t>Code &amp; runtime context → RCA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5843016" y="2743200"/>
            <a:ext cx="338328" cy="694944"/>
          </a:xfrm>
          <a:prstGeom prst="line">
            <a:avLst/>
          </a:prstGeom>
          <a:ln w="20320">
            <a:solidFill>
              <a:srgbClr val="2B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601968" y="193852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8" y="2011680"/>
            <a:ext cx="438912" cy="20116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0B1220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08776" y="2505456"/>
            <a:ext cx="1234440" cy="21031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ptos"/>
              </a:rPr>
              <a:t>Prepare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53912" y="2788920"/>
            <a:ext cx="1344168" cy="38404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30" b="0" i="0">
                <a:solidFill>
                  <a:srgbClr val="A5B4C7"/>
                </a:solidFill>
                <a:latin typeface="Aptos"/>
              </a:rPr>
              <a:t>Fix, tests, PDF &amp; patch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287768" y="2157984"/>
            <a:ext cx="338328" cy="585216"/>
          </a:xfrm>
          <a:prstGeom prst="line">
            <a:avLst/>
          </a:prstGeom>
          <a:ln w="20320">
            <a:solidFill>
              <a:srgbClr val="2B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046720" y="321868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0" y="3291840"/>
            <a:ext cx="438912" cy="20116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0B1220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53528" y="3785616"/>
            <a:ext cx="1234440" cy="21031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ptos"/>
              </a:rPr>
              <a:t>Approve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98664" y="4069080"/>
            <a:ext cx="1344168" cy="38404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30" b="0" i="0">
                <a:solidFill>
                  <a:srgbClr val="A5B4C7"/>
                </a:solidFill>
                <a:latin typeface="Aptos"/>
              </a:rPr>
              <a:t>Human reviewer decision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8732520" y="2743200"/>
            <a:ext cx="338328" cy="694944"/>
          </a:xfrm>
          <a:prstGeom prst="line">
            <a:avLst/>
          </a:prstGeom>
          <a:ln w="20320">
            <a:solidFill>
              <a:srgbClr val="2B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491472" y="193852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91472" y="2011680"/>
            <a:ext cx="438912" cy="20116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0B1220"/>
                </a:solidFill>
                <a:latin typeface="Aptos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2505456"/>
            <a:ext cx="1234440" cy="21031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ptos"/>
              </a:rPr>
              <a:t>Deliver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43416" y="2788920"/>
            <a:ext cx="1344168" cy="38404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30" b="0" i="0">
                <a:solidFill>
                  <a:srgbClr val="A5B4C7"/>
                </a:solidFill>
                <a:latin typeface="Aptos"/>
              </a:rPr>
              <a:t>Jira + GitHub PR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0177272" y="2157984"/>
            <a:ext cx="338328" cy="585216"/>
          </a:xfrm>
          <a:prstGeom prst="line">
            <a:avLst/>
          </a:prstGeom>
          <a:ln w="20320">
            <a:solidFill>
              <a:srgbClr val="2B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0936224" y="321868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36224" y="3291840"/>
            <a:ext cx="438912" cy="20116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0B1220"/>
                </a:solidFill>
                <a:latin typeface="Aptos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43032" y="3785616"/>
            <a:ext cx="1234440" cy="21031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ptos"/>
              </a:rPr>
              <a:t>Learn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88168" y="4069080"/>
            <a:ext cx="1344168" cy="38404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30" b="0" i="0">
                <a:solidFill>
                  <a:srgbClr val="A5B4C7"/>
                </a:solidFill>
                <a:latin typeface="Aptos"/>
              </a:rPr>
              <a:t>Finalize, notify &amp; PIR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88536" y="4983480"/>
            <a:ext cx="3657600" cy="594360"/>
          </a:xfrm>
          <a:prstGeom prst="roundRect">
            <a:avLst>
              <a:gd name="adj" fmla="val 8000"/>
            </a:avLst>
          </a:prstGeom>
          <a:solidFill>
            <a:srgbClr val="1D304A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5696" y="5111496"/>
            <a:ext cx="3383280" cy="25603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BBF24"/>
                </a:solidFill>
                <a:latin typeface="Aptos"/>
              </a:rPr>
              <a:t>HUMAN APPROVAL IS THE CONTROL POINT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5216" y="5833872"/>
            <a:ext cx="10789920" cy="32004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A5B4C7"/>
                </a:solidFill>
                <a:latin typeface="Aptos"/>
              </a:rPr>
              <a:t>Resilience is built in: workflow leases prevent duplicate execution, selected generation nodes retry, and unrecoverable errors are routed to a persisted FAILED state.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5C6F86"/>
                </a:solidFill>
                <a:latin typeface="Aptos"/>
              </a:rPr>
              <a:t>PRISM  /  AI-ASSISTED INCIDENT RESPONSE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60" y="6519672"/>
            <a:ext cx="2331720" cy="16459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C6F86"/>
                </a:solidFill>
                <a:latin typeface="Aptos"/>
              </a:rPr>
              <a:t>Technical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5943600" cy="20116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22D3EE"/>
                </a:solidFill>
                <a:latin typeface="Aptos Display"/>
              </a:rPr>
              <a:t>ARCHITECTURE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8"/>
            <a:ext cx="10881360" cy="47548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8FAFC"/>
                </a:solidFill>
                <a:latin typeface="Aptos Display"/>
              </a:rPr>
              <a:t>A modular platform that separates signal handling from governed remediation.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607040" cy="29260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A5B4C7"/>
                </a:solidFill>
                <a:latin typeface="Aptos"/>
              </a:rPr>
              <a:t>Python / FastAPI services, a LangGraph state machine, project-scoped integrations, and persistent evidence.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35608"/>
            <a:ext cx="68580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320040" cy="20116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A5B4C7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280160" cy="20116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22D3EE"/>
                </a:solidFill>
                <a:latin typeface="Aptos"/>
              </a:rPr>
              <a:t>SIGNAL 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29968" y="1627632"/>
            <a:ext cx="9354312" cy="59436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 w="12700"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29968" y="1627632"/>
            <a:ext cx="54864" cy="5943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04288" y="1783080"/>
            <a:ext cx="2773680" cy="237744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19" b="1" i="0">
                <a:solidFill>
                  <a:srgbClr val="F8FAFC"/>
                </a:solidFill>
                <a:latin typeface="Aptos"/>
              </a:rPr>
              <a:t>OTLP applications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1120" y="1783080"/>
            <a:ext cx="2773680" cy="237744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19" b="1" i="0">
                <a:solidFill>
                  <a:srgbClr val="F8FAFC"/>
                </a:solidFill>
                <a:latin typeface="Aptos"/>
              </a:rPr>
              <a:t>CI/CD systems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41392" y="1737360"/>
            <a:ext cx="0" cy="374904"/>
          </a:xfrm>
          <a:prstGeom prst="line">
            <a:avLst/>
          </a:prstGeom>
          <a:ln w="12700">
            <a:solidFill>
              <a:srgbClr val="2B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997951" y="1783080"/>
            <a:ext cx="2773680" cy="237744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19" b="1" i="0">
                <a:solidFill>
                  <a:srgbClr val="F8FAFC"/>
                </a:solidFill>
                <a:latin typeface="Aptos"/>
              </a:rPr>
              <a:t>OTel Collector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88223" y="1737360"/>
            <a:ext cx="0" cy="374904"/>
          </a:xfrm>
          <a:prstGeom prst="line">
            <a:avLst/>
          </a:prstGeom>
          <a:ln w="12700">
            <a:solidFill>
              <a:srgbClr val="2B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711696" y="2221992"/>
            <a:ext cx="0" cy="192024"/>
          </a:xfrm>
          <a:prstGeom prst="line">
            <a:avLst/>
          </a:prstGeom>
          <a:ln w="20320">
            <a:solidFill>
              <a:srgbClr val="5C6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2679192"/>
            <a:ext cx="1280160" cy="20116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38BDF8"/>
                </a:solidFill>
                <a:latin typeface="Aptos"/>
              </a:rPr>
              <a:t>INGRESS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29968" y="2478024"/>
            <a:ext cx="9354312" cy="59436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 w="12700"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29968" y="2478024"/>
            <a:ext cx="54864" cy="5943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04288" y="2633472"/>
            <a:ext cx="4160520" cy="237744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19" b="1" i="0">
                <a:solidFill>
                  <a:srgbClr val="F8FAFC"/>
                </a:solidFill>
                <a:latin typeface="Aptos"/>
              </a:rPr>
              <a:t>FastAPI Ingestion API  :8000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2633472"/>
            <a:ext cx="4160520" cy="237744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19" b="1" i="0">
                <a:solidFill>
                  <a:srgbClr val="F8FAFC"/>
                </a:solidFill>
                <a:latin typeface="Aptos"/>
              </a:rPr>
              <a:t>OTLP /v1/logs  •  events  •  protected project API key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64808" y="2587752"/>
            <a:ext cx="0" cy="374904"/>
          </a:xfrm>
          <a:prstGeom prst="line">
            <a:avLst/>
          </a:prstGeom>
          <a:ln w="12700">
            <a:solidFill>
              <a:srgbClr val="2B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711696" y="3072384"/>
            <a:ext cx="0" cy="192024"/>
          </a:xfrm>
          <a:prstGeom prst="line">
            <a:avLst/>
          </a:prstGeom>
          <a:ln w="20320">
            <a:solidFill>
              <a:srgbClr val="5C6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" y="3529584"/>
            <a:ext cx="1280160" cy="20116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A78BFA"/>
                </a:solidFill>
                <a:latin typeface="Aptos"/>
              </a:rPr>
              <a:t>INTELLIGENCE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29968" y="3328416"/>
            <a:ext cx="9354312" cy="59436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 w="12700"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29968" y="3328416"/>
            <a:ext cx="54864" cy="5943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04288" y="3483864"/>
            <a:ext cx="2773680" cy="237744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19" b="1" i="0">
                <a:solidFill>
                  <a:srgbClr val="F8FAFC"/>
                </a:solidFill>
                <a:latin typeface="Aptos"/>
              </a:rPr>
              <a:t>Parser + severity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51120" y="3483864"/>
            <a:ext cx="2773680" cy="237744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19" b="1" i="0">
                <a:solidFill>
                  <a:srgbClr val="F8FAFC"/>
                </a:solidFill>
                <a:latin typeface="Aptos"/>
              </a:rPr>
              <a:t>SimHash deduplication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41392" y="3438144"/>
            <a:ext cx="0" cy="374904"/>
          </a:xfrm>
          <a:prstGeom prst="line">
            <a:avLst/>
          </a:prstGeom>
          <a:ln w="12700">
            <a:solidFill>
              <a:srgbClr val="2B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997951" y="3483864"/>
            <a:ext cx="2773680" cy="237744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19" b="1" i="0">
                <a:solidFill>
                  <a:srgbClr val="F8FAFC"/>
                </a:solidFill>
                <a:latin typeface="Aptos"/>
              </a:rPr>
              <a:t>LangGraph incident workflow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888223" y="3438144"/>
            <a:ext cx="0" cy="374904"/>
          </a:xfrm>
          <a:prstGeom prst="line">
            <a:avLst/>
          </a:prstGeom>
          <a:ln w="12700">
            <a:solidFill>
              <a:srgbClr val="2B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711696" y="3922776"/>
            <a:ext cx="0" cy="192024"/>
          </a:xfrm>
          <a:prstGeom prst="line">
            <a:avLst/>
          </a:prstGeom>
          <a:ln w="20320">
            <a:solidFill>
              <a:srgbClr val="5C6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66928" y="4379976"/>
            <a:ext cx="1280160" cy="20116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F472B6"/>
                </a:solidFill>
                <a:latin typeface="Aptos"/>
              </a:rPr>
              <a:t>EXPERIENCE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029968" y="4178808"/>
            <a:ext cx="9354312" cy="59436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 w="12700"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029968" y="4178808"/>
            <a:ext cx="54864" cy="59436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04288" y="4334256"/>
            <a:ext cx="4160520" cy="237744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19" b="1" i="0">
                <a:solidFill>
                  <a:srgbClr val="F8FAFC"/>
                </a:solidFill>
                <a:latin typeface="Aptos"/>
              </a:rPr>
              <a:t>Dashboard UI  :8080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74536" y="4334256"/>
            <a:ext cx="4160520" cy="237744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19" b="1" i="0">
                <a:solidFill>
                  <a:srgbClr val="F8FAFC"/>
                </a:solidFill>
                <a:latin typeface="Aptos"/>
              </a:rPr>
              <a:t>Review • approve • observe • administer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64808" y="4288536"/>
            <a:ext cx="0" cy="374904"/>
          </a:xfrm>
          <a:prstGeom prst="line">
            <a:avLst/>
          </a:prstGeom>
          <a:ln w="12700">
            <a:solidFill>
              <a:srgbClr val="2B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711696" y="4773168"/>
            <a:ext cx="0" cy="192024"/>
          </a:xfrm>
          <a:prstGeom prst="line">
            <a:avLst/>
          </a:prstGeom>
          <a:ln w="20320">
            <a:solidFill>
              <a:srgbClr val="5C6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66928" y="5230368"/>
            <a:ext cx="1280160" cy="20116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34D399"/>
                </a:solidFill>
                <a:latin typeface="Aptos"/>
              </a:rPr>
              <a:t>DELIVERY &amp; DATA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029968" y="5029200"/>
            <a:ext cx="9354312" cy="59436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 w="12700"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029968" y="5029200"/>
            <a:ext cx="54864" cy="5943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04288" y="5184648"/>
            <a:ext cx="4160520" cy="237744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19" b="1" i="0">
                <a:solidFill>
                  <a:srgbClr val="D1FAE5"/>
                </a:solidFill>
                <a:latin typeface="Aptos"/>
              </a:rPr>
              <a:t>GitHub  •  Jira  •  Slack / Teams  •  Anypoint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74536" y="5184648"/>
            <a:ext cx="4160520" cy="237744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19" b="1" i="0">
                <a:solidFill>
                  <a:srgbClr val="D1FAE5"/>
                </a:solidFill>
                <a:latin typeface="Aptos"/>
              </a:rPr>
              <a:t>SQLite / SQLAlchemy  •  encrypted project secrets  •  PDF + patch artefacts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464808" y="5138928"/>
            <a:ext cx="0" cy="374904"/>
          </a:xfrm>
          <a:prstGeom prst="line">
            <a:avLst/>
          </a:prstGeom>
          <a:ln w="12700">
            <a:solidFill>
              <a:srgbClr val="2B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5C6F86"/>
                </a:solidFill>
                <a:latin typeface="Aptos"/>
              </a:rPr>
              <a:t>PRISM  /  AI-ASSISTED INCIDENT RESPONSE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60" y="6519672"/>
            <a:ext cx="2331720" cy="16459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C6F86"/>
                </a:solidFill>
                <a:latin typeface="Aptos"/>
              </a:rPr>
              <a:t>Technical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5943600" cy="20116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22D3EE"/>
                </a:solidFill>
                <a:latin typeface="Aptos Display"/>
              </a:rPr>
              <a:t>CAPABILITY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8"/>
            <a:ext cx="10881360" cy="47548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8FAFC"/>
                </a:solidFill>
                <a:latin typeface="Aptos Display"/>
              </a:rPr>
              <a:t>One incident record becomes a complete, reviewable engineering evidence package.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607040" cy="29260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A5B4C7"/>
                </a:solidFill>
                <a:latin typeface="Aptos"/>
              </a:rPr>
              <a:t>Capabilities are grouped by their job in the response lifecycle.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35608"/>
            <a:ext cx="68580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320040" cy="20116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A5B4C7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00784"/>
            <a:ext cx="3401568" cy="1673352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 w="12700"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865376"/>
            <a:ext cx="786384" cy="21031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22D3EE"/>
                </a:solidFill>
                <a:latin typeface="Aptos"/>
              </a:rPr>
              <a:t>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130552"/>
            <a:ext cx="2990088" cy="25603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Aptos"/>
              </a:rPr>
              <a:t>Telemetry intelligence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" y="2468880"/>
            <a:ext cx="475488" cy="228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633472"/>
            <a:ext cx="2990088" cy="54864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0" i="0">
                <a:solidFill>
                  <a:srgbClr val="A5B4C7"/>
                </a:solidFill>
                <a:latin typeface="Aptos"/>
              </a:rPr>
              <a:t>OTLP parsing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0" i="0">
                <a:solidFill>
                  <a:srgbClr val="A5B4C7"/>
                </a:solidFill>
                <a:latin typeface="Aptos"/>
              </a:rPr>
              <a:t>Persistent telemetry log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0" i="0">
                <a:solidFill>
                  <a:srgbClr val="A5B4C7"/>
                </a:solidFill>
                <a:latin typeface="Aptos"/>
              </a:rPr>
              <a:t>Fingerprinting &amp; grouping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0" i="0">
                <a:solidFill>
                  <a:srgbClr val="A5B4C7"/>
                </a:solidFill>
                <a:latin typeface="Aptos"/>
              </a:rPr>
              <a:t>LLM-first severity with fallback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700784"/>
            <a:ext cx="3401568" cy="1673352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 w="12700"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865376"/>
            <a:ext cx="786384" cy="21031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A78BFA"/>
                </a:solidFill>
                <a:latin typeface="Aptos"/>
              </a:rPr>
              <a:t>THINK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130552"/>
            <a:ext cx="2990088" cy="25603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Aptos"/>
              </a:rPr>
              <a:t>Contextual diagnosis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98848" y="2468880"/>
            <a:ext cx="475488" cy="228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2633472"/>
            <a:ext cx="2990088" cy="54864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0" i="0">
                <a:solidFill>
                  <a:srgbClr val="A5B4C7"/>
                </a:solidFill>
                <a:latin typeface="Aptos"/>
              </a:rPr>
              <a:t>GitHub source context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0" i="0">
                <a:solidFill>
                  <a:srgbClr val="A5B4C7"/>
                </a:solidFill>
                <a:latin typeface="Aptos"/>
              </a:rPr>
              <a:t>Anypoint runtime context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0" i="0">
                <a:solidFill>
                  <a:srgbClr val="A5B4C7"/>
                </a:solidFill>
                <a:latin typeface="Aptos"/>
              </a:rPr>
              <a:t>AI-assisted RCA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0" i="0">
                <a:solidFill>
                  <a:srgbClr val="A5B4C7"/>
                </a:solidFill>
                <a:latin typeface="Aptos"/>
              </a:rPr>
              <a:t>SLA and escalation posture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700784"/>
            <a:ext cx="3401568" cy="1673352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 w="12700"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9" y="1865376"/>
            <a:ext cx="786384" cy="21031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472B6"/>
                </a:solidFill>
                <a:latin typeface="Aptos"/>
              </a:rPr>
              <a:t>PREPARE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9" y="2130552"/>
            <a:ext cx="2990088" cy="25603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Aptos"/>
              </a:rPr>
              <a:t>Remediation package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599" y="2468880"/>
            <a:ext cx="475488" cy="2286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9" y="2633472"/>
            <a:ext cx="2990088" cy="54864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0" i="0">
                <a:solidFill>
                  <a:srgbClr val="A5B4C7"/>
                </a:solidFill>
                <a:latin typeface="Aptos"/>
              </a:rPr>
              <a:t>Proposed code fix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0" i="0">
                <a:solidFill>
                  <a:srgbClr val="A5B4C7"/>
                </a:solidFill>
                <a:latin typeface="Aptos"/>
              </a:rPr>
              <a:t>Test recommendation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0" i="0">
                <a:solidFill>
                  <a:srgbClr val="A5B4C7"/>
                </a:solidFill>
                <a:latin typeface="Aptos"/>
              </a:rPr>
              <a:t>Fix reflection / quality check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0" i="0">
                <a:solidFill>
                  <a:srgbClr val="A5B4C7"/>
                </a:solidFill>
                <a:latin typeface="Aptos"/>
              </a:rPr>
              <a:t>RCA PDF + unified patch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712464"/>
            <a:ext cx="5321808" cy="1673352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 w="12700"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877056"/>
            <a:ext cx="786384" cy="21031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BBF24"/>
                </a:solidFill>
                <a:latin typeface="Aptos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4142232"/>
            <a:ext cx="4910328" cy="25603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Aptos"/>
              </a:rPr>
              <a:t>Accountable action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" y="4480560"/>
            <a:ext cx="475488" cy="228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645152"/>
            <a:ext cx="4910328" cy="54864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0" i="0">
                <a:solidFill>
                  <a:srgbClr val="A5B4C7"/>
                </a:solidFill>
                <a:latin typeface="Aptos"/>
              </a:rPr>
              <a:t>Reviewer comments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0" i="0">
                <a:solidFill>
                  <a:srgbClr val="A5B4C7"/>
                </a:solidFill>
                <a:latin typeface="Aptos"/>
              </a:rPr>
              <a:t>Approve / reject / regenerate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0" i="0">
                <a:solidFill>
                  <a:srgbClr val="A5B4C7"/>
                </a:solidFill>
                <a:latin typeface="Aptos"/>
              </a:rPr>
              <a:t>Workflow history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0" i="0">
                <a:solidFill>
                  <a:srgbClr val="A5B4C7"/>
                </a:solidFill>
                <a:latin typeface="Aptos"/>
              </a:rPr>
              <a:t>Audited recovery controls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18504" y="3712464"/>
            <a:ext cx="5321808" cy="1673352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 w="12700"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9672" y="3877056"/>
            <a:ext cx="786384" cy="21031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34D399"/>
                </a:solidFill>
                <a:latin typeface="Aptos"/>
              </a:rPr>
              <a:t>SHIP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9672" y="4142232"/>
            <a:ext cx="4910328" cy="25603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Aptos"/>
              </a:rPr>
              <a:t>Toolchain delivery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19672" y="4480560"/>
            <a:ext cx="475488" cy="228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9672" y="4645152"/>
            <a:ext cx="4910328" cy="54864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0" i="0">
                <a:solidFill>
                  <a:srgbClr val="A5B4C7"/>
                </a:solidFill>
                <a:latin typeface="Aptos"/>
              </a:rPr>
              <a:t>Jira issue &amp; DevInfo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0" i="0">
                <a:solidFill>
                  <a:srgbClr val="A5B4C7"/>
                </a:solidFill>
                <a:latin typeface="Aptos"/>
              </a:rPr>
              <a:t>GitHub branch, commit &amp; PR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0" i="0">
                <a:solidFill>
                  <a:srgbClr val="A5B4C7"/>
                </a:solidFill>
                <a:latin typeface="Aptos"/>
              </a:rPr>
              <a:t>Slack / Teams notifications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0" i="0">
                <a:solidFill>
                  <a:srgbClr val="A5B4C7"/>
                </a:solidFill>
                <a:latin typeface="Aptos"/>
              </a:rPr>
              <a:t>Post-Incident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5C6F86"/>
                </a:solidFill>
                <a:latin typeface="Aptos"/>
              </a:rPr>
              <a:t>PRISM  /  AI-ASSISTED INCIDENT RESPONSE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6519672"/>
            <a:ext cx="2331720" cy="16459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C6F86"/>
                </a:solidFill>
                <a:latin typeface="Aptos"/>
              </a:rPr>
              <a:t>Technical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5943600" cy="20116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22D3EE"/>
                </a:solidFill>
                <a:latin typeface="Aptos Display"/>
              </a:rPr>
              <a:t>TRUST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8"/>
            <a:ext cx="10881360" cy="47548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8FAFC"/>
                </a:solidFill>
                <a:latin typeface="Aptos Display"/>
              </a:rPr>
              <a:t>Safety is an architectural feature — not a policy afterthought.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607040" cy="29260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A5B4C7"/>
                </a:solidFill>
                <a:latin typeface="Aptos"/>
              </a:rPr>
              <a:t>Prism protects the ingress boundary, tenant boundary, action boundary, and evidence trail.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35608"/>
            <a:ext cx="68580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320040" cy="20116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A5B4C7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627632"/>
            <a:ext cx="502920" cy="502920"/>
          </a:xfrm>
          <a:prstGeom prst="roundRect">
            <a:avLst>
              <a:gd name="adj" fmla="val 8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32788"/>
            <a:ext cx="502920" cy="21031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0B1220"/>
                </a:solidFill>
                <a:latin typeface="Aptos"/>
              </a:rPr>
              <a:t>01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90472" y="1879092"/>
            <a:ext cx="384047" cy="0"/>
          </a:xfrm>
          <a:prstGeom prst="line">
            <a:avLst/>
          </a:prstGeom>
          <a:ln w="190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011680" y="1645920"/>
            <a:ext cx="2880360" cy="20116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22D3EE"/>
                </a:solidFill>
                <a:latin typeface="Aptos"/>
              </a:rPr>
              <a:t>PROJECT-BOUND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865376"/>
            <a:ext cx="8823960" cy="27432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F8FAFC"/>
                </a:solidFill>
                <a:latin typeface="Aptos"/>
              </a:rPr>
              <a:t>Production ingestion accepts a project API key. The resolved key, not untrusted log metadata, establishes tenant ownership.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459736"/>
            <a:ext cx="502920" cy="502920"/>
          </a:xfrm>
          <a:prstGeom prst="roundRect">
            <a:avLst>
              <a:gd name="adj" fmla="val 8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64892"/>
            <a:ext cx="502920" cy="21031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0B1220"/>
                </a:solidFill>
                <a:latin typeface="Aptos"/>
              </a:rPr>
              <a:t>02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90472" y="2711196"/>
            <a:ext cx="384047" cy="0"/>
          </a:xfrm>
          <a:prstGeom prst="line">
            <a:avLst/>
          </a:prstGeom>
          <a:ln w="1905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011680" y="2478024"/>
            <a:ext cx="2880360" cy="20116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A78BFA"/>
                </a:solidFill>
                <a:latin typeface="Aptos"/>
              </a:rPr>
              <a:t>LEAST-PRIVILEGE 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697480"/>
            <a:ext cx="8823960" cy="27432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F8FAFC"/>
                </a:solidFill>
                <a:latin typeface="Aptos"/>
              </a:rPr>
              <a:t>Admin, Team Admin, and User roles work within project-scoped access and configuration boundaries.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29184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396996"/>
            <a:ext cx="502920" cy="21031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0B1220"/>
                </a:solidFill>
                <a:latin typeface="Aptos"/>
              </a:rPr>
              <a:t>03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490472" y="3543300"/>
            <a:ext cx="384047" cy="0"/>
          </a:xfrm>
          <a:prstGeom prst="line">
            <a:avLst/>
          </a:prstGeom>
          <a:ln w="1905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011680" y="3310128"/>
            <a:ext cx="2880360" cy="20116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34D399"/>
                </a:solidFill>
                <a:latin typeface="Aptos"/>
              </a:rPr>
              <a:t>ENCRYPTED INTEGRATIONS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529584"/>
            <a:ext cx="8823960" cy="27432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F8FAFC"/>
                </a:solidFill>
                <a:latin typeface="Aptos"/>
              </a:rPr>
              <a:t>LLM, GitHub, Jira, notification, and Anypoint credentials are encrypted at rest using Fernet.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123944"/>
            <a:ext cx="502920" cy="502920"/>
          </a:xfrm>
          <a:prstGeom prst="roundRect">
            <a:avLst>
              <a:gd name="adj" fmla="val 8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229100"/>
            <a:ext cx="502920" cy="21031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0B1220"/>
                </a:solidFill>
                <a:latin typeface="Aptos"/>
              </a:rPr>
              <a:t>04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490472" y="4375404"/>
            <a:ext cx="384047" cy="0"/>
          </a:xfrm>
          <a:prstGeom prst="line">
            <a:avLst/>
          </a:prstGeom>
          <a:ln w="190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011680" y="4142232"/>
            <a:ext cx="2880360" cy="20116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BBF24"/>
                </a:solidFill>
                <a:latin typeface="Aptos"/>
              </a:rPr>
              <a:t>HUMAN DELIVERY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361688"/>
            <a:ext cx="8823960" cy="27432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F8FAFC"/>
                </a:solidFill>
                <a:latin typeface="Aptos"/>
              </a:rPr>
              <a:t>A reviewer must explicitly approve a recommendation before Jira issue creation or GitHub PR automation can start.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4956048"/>
            <a:ext cx="502920" cy="502920"/>
          </a:xfrm>
          <a:prstGeom prst="roundRect">
            <a:avLst>
              <a:gd name="adj" fmla="val 8000"/>
            </a:avLst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5061204"/>
            <a:ext cx="502920" cy="21031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0B1220"/>
                </a:solidFill>
                <a:latin typeface="Aptos"/>
              </a:rPr>
              <a:t>05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490472" y="5207508"/>
            <a:ext cx="384047" cy="0"/>
          </a:xfrm>
          <a:prstGeom prst="line">
            <a:avLst/>
          </a:prstGeom>
          <a:ln w="19050">
            <a:solidFill>
              <a:srgbClr val="F47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011680" y="4974336"/>
            <a:ext cx="2880360" cy="20116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472B6"/>
                </a:solidFill>
                <a:latin typeface="Aptos"/>
              </a:rPr>
              <a:t>AUDITABLE OPERATIONS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5193792"/>
            <a:ext cx="8823960" cy="27432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F8FAFC"/>
                </a:solidFill>
                <a:latin typeface="Aptos"/>
              </a:rPr>
              <a:t>Workflow records, bounded node events, API-key lifecycle, approval history, and recovery actions provide durable evidence.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5C6F86"/>
                </a:solidFill>
                <a:latin typeface="Aptos"/>
              </a:rPr>
              <a:t>PRISM  /  AI-ASSISTED INCIDENT RESPONSE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6519672"/>
            <a:ext cx="2331720" cy="16459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C6F86"/>
                </a:solidFill>
                <a:latin typeface="Aptos"/>
              </a:rPr>
              <a:t>Technical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5943600" cy="20116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22D3EE"/>
                </a:solidFill>
                <a:latin typeface="Aptos Display"/>
              </a:rPr>
              <a:t>INTEGRATION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8"/>
            <a:ext cx="10881360" cy="47548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8FAFC"/>
                </a:solidFill>
                <a:latin typeface="Aptos Display"/>
              </a:rPr>
              <a:t>Prism works with the systems engineering teams already use.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607040" cy="29260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A5B4C7"/>
                </a:solidFill>
                <a:latin typeface="Aptos"/>
              </a:rPr>
              <a:t>Every integration is project-scoped, with resilient client handling and encrypted configuration.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35608"/>
            <a:ext cx="68580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320040" cy="20116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A5B4C7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90288" y="2450592"/>
            <a:ext cx="2971800" cy="1234440"/>
          </a:xfrm>
          <a:prstGeom prst="roundRect">
            <a:avLst>
              <a:gd name="adj" fmla="val 8000"/>
            </a:avLst>
          </a:prstGeom>
          <a:solidFill>
            <a:srgbClr val="1D304A"/>
          </a:solidFill>
          <a:ln w="1651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2660904"/>
            <a:ext cx="2560320" cy="237744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8FAFC"/>
                </a:solidFill>
                <a:latin typeface="Aptos"/>
              </a:rPr>
              <a:t>PRISM ORCHESTRATOR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2999232"/>
            <a:ext cx="2560320" cy="32004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A5B4C7"/>
                </a:solidFill>
                <a:latin typeface="Aptos"/>
              </a:rPr>
              <a:t>LangGraph workflow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A5B4C7"/>
                </a:solidFill>
                <a:latin typeface="Aptos"/>
              </a:rPr>
              <a:t>+ integration clients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2971800" cy="841248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 w="12700"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91640"/>
            <a:ext cx="54864" cy="84124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37944"/>
            <a:ext cx="2560320" cy="18288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ptos"/>
              </a:rPr>
              <a:t>LLM PROVIDERS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084832"/>
            <a:ext cx="2560320" cy="27432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A5B4C7"/>
                </a:solidFill>
                <a:latin typeface="Aptos"/>
              </a:rPr>
              <a:t>OpenAI • Anthropic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A5B4C7"/>
                </a:solidFill>
                <a:latin typeface="Aptos"/>
              </a:rPr>
              <a:t>Gemini • Groq • Ollama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69080"/>
            <a:ext cx="2971800" cy="841248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 w="12700"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069080"/>
            <a:ext cx="54864" cy="8412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15384"/>
            <a:ext cx="2560320" cy="18288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ptos"/>
              </a:rPr>
              <a:t>GITHUB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462272"/>
            <a:ext cx="2560320" cy="27432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A5B4C7"/>
                </a:solidFill>
                <a:latin typeface="Aptos"/>
              </a:rPr>
              <a:t>Code context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A5B4C7"/>
                </a:solidFill>
                <a:latin typeface="Aptos"/>
              </a:rPr>
              <a:t>Branch • commit • PR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1691640"/>
            <a:ext cx="2971800" cy="841248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 w="12700"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66760" y="1691640"/>
            <a:ext cx="54864" cy="84124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7928" y="1837944"/>
            <a:ext cx="2560320" cy="18288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ptos"/>
              </a:rPr>
              <a:t>JIRA CLOUD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7928" y="2084832"/>
            <a:ext cx="2560320" cy="27432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A5B4C7"/>
                </a:solidFill>
                <a:latin typeface="Aptos"/>
              </a:rPr>
              <a:t>Issues • comments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A5B4C7"/>
                </a:solidFill>
                <a:latin typeface="Aptos"/>
              </a:rPr>
              <a:t>DevInfo sync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4069080"/>
            <a:ext cx="2971800" cy="841248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 w="12700"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66760" y="4069080"/>
            <a:ext cx="54864" cy="84124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67928" y="4215384"/>
            <a:ext cx="2560320" cy="18288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ptos"/>
              </a:rPr>
              <a:t>TEAM CHANNELS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67928" y="4462272"/>
            <a:ext cx="2560320" cy="27432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A5B4C7"/>
                </a:solidFill>
                <a:latin typeface="Aptos"/>
              </a:rPr>
              <a:t>Slack • Teams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A5B4C7"/>
                </a:solidFill>
                <a:latin typeface="Aptos"/>
              </a:rPr>
              <a:t>Generic webhook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90288" y="4910328"/>
            <a:ext cx="2971800" cy="841248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 w="12700"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90288" y="4910328"/>
            <a:ext cx="54864" cy="8412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91456" y="5056632"/>
            <a:ext cx="2560320" cy="18288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ptos"/>
              </a:rPr>
              <a:t>ANYPOINT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91456" y="5303520"/>
            <a:ext cx="2560320" cy="27432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A5B4C7"/>
                </a:solidFill>
                <a:latin typeface="Aptos"/>
              </a:rPr>
              <a:t>Runtime &amp; deployment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A5B4C7"/>
                </a:solidFill>
                <a:latin typeface="Aptos"/>
              </a:rPr>
              <a:t>context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703320" y="2112264"/>
            <a:ext cx="886968" cy="603504"/>
          </a:xfrm>
          <a:prstGeom prst="line">
            <a:avLst/>
          </a:prstGeom>
          <a:ln w="19050">
            <a:solidFill>
              <a:srgbClr val="2B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703320" y="3410712"/>
            <a:ext cx="886968" cy="1069848"/>
          </a:xfrm>
          <a:prstGeom prst="line">
            <a:avLst/>
          </a:prstGeom>
          <a:ln w="19050">
            <a:solidFill>
              <a:srgbClr val="2B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562088" y="2112264"/>
            <a:ext cx="804672" cy="603504"/>
          </a:xfrm>
          <a:prstGeom prst="line">
            <a:avLst/>
          </a:prstGeom>
          <a:ln w="19050">
            <a:solidFill>
              <a:srgbClr val="2B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562088" y="3410712"/>
            <a:ext cx="804672" cy="1069848"/>
          </a:xfrm>
          <a:prstGeom prst="line">
            <a:avLst/>
          </a:prstGeom>
          <a:ln w="19050">
            <a:solidFill>
              <a:srgbClr val="2B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080760" y="3685032"/>
            <a:ext cx="0" cy="1225296"/>
          </a:xfrm>
          <a:prstGeom prst="line">
            <a:avLst/>
          </a:prstGeom>
          <a:ln w="19050">
            <a:solidFill>
              <a:srgbClr val="2B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5C6F86"/>
                </a:solidFill>
                <a:latin typeface="Aptos"/>
              </a:rPr>
              <a:t>PRISM  /  AI-ASSISTED INCIDENT RESPONSE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6519672"/>
            <a:ext cx="2331720" cy="16459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C6F86"/>
                </a:solidFill>
                <a:latin typeface="Aptos"/>
              </a:rPr>
              <a:t>Technical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5943600" cy="20116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22D3EE"/>
                </a:solidFill>
                <a:latin typeface="Aptos Display"/>
              </a:rPr>
              <a:t>OPERATIONAL EXPERIENCE &amp;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8"/>
            <a:ext cx="10881360" cy="47548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8FAFC"/>
                </a:solidFill>
                <a:latin typeface="Aptos Display"/>
              </a:rPr>
              <a:t>A single project-scoped view for responders, reviewers, and administrators.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607040" cy="29260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A5B4C7"/>
                </a:solidFill>
                <a:latin typeface="Aptos"/>
              </a:rPr>
              <a:t>The dashboard makes the AI process inspectable rather than opaque.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35608"/>
            <a:ext cx="68580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320040" cy="20116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A5B4C7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3246120" cy="109728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 w="12700"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0664" y="1993392"/>
            <a:ext cx="402336" cy="402336"/>
          </a:xfrm>
          <a:prstGeom prst="roundRect">
            <a:avLst>
              <a:gd name="adj" fmla="val 8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2025396"/>
            <a:ext cx="402336" cy="274320"/>
          </a:xfrm>
          <a:prstGeom prst="rect">
            <a:avLst/>
          </a:prstGeom>
          <a:noFill/>
        </p:spPr>
        <p:txBody>
          <a:bodyPr wrap="square" lIns="63500" rIns="63500" t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Aptos"/>
              </a:rPr>
              <a:t>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1965960"/>
            <a:ext cx="2441448" cy="219456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8FAFC"/>
                </a:solidFill>
                <a:latin typeface="Aptos"/>
              </a:rPr>
              <a:t>INCIDENT 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2212848"/>
            <a:ext cx="2441448" cy="62179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0" i="0">
                <a:solidFill>
                  <a:srgbClr val="A5B4C7"/>
                </a:solidFill>
                <a:latin typeface="Aptos"/>
              </a:rPr>
              <a:t>Incident list, severity, status,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0" i="0">
                <a:solidFill>
                  <a:srgbClr val="A5B4C7"/>
                </a:solidFill>
                <a:latin typeface="Aptos"/>
              </a:rPr>
              <a:t>SLA posture, grouping &amp; telemetry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1416" y="1828800"/>
            <a:ext cx="3246120" cy="109728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 w="12700"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17720" y="1993392"/>
            <a:ext cx="402336" cy="402336"/>
          </a:xfrm>
          <a:prstGeom prst="roundRect">
            <a:avLst>
              <a:gd name="adj" fmla="val 8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025396"/>
            <a:ext cx="402336" cy="274320"/>
          </a:xfrm>
          <a:prstGeom prst="rect">
            <a:avLst/>
          </a:prstGeom>
          <a:noFill/>
        </p:spPr>
        <p:txBody>
          <a:bodyPr wrap="square" lIns="63500" rIns="63500" t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4" y="1965960"/>
            <a:ext cx="2441448" cy="219456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8FAFC"/>
                </a:solidFill>
                <a:latin typeface="Aptos"/>
              </a:rPr>
              <a:t>REVIEW WORKSPACE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9784" y="2212848"/>
            <a:ext cx="2441448" cy="62179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0" i="0">
                <a:solidFill>
                  <a:srgbClr val="A5B4C7"/>
                </a:solidFill>
                <a:latin typeface="Aptos"/>
              </a:rPr>
              <a:t>RCA, code fix, test idea, patch,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0" i="0">
                <a:solidFill>
                  <a:srgbClr val="A5B4C7"/>
                </a:solidFill>
                <a:latin typeface="Aptos"/>
              </a:rPr>
              <a:t>PDF report, comments &amp; decision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48472" y="1828800"/>
            <a:ext cx="3246120" cy="109728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 w="12700"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94776" y="1993392"/>
            <a:ext cx="402336" cy="402336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94776" y="2025396"/>
            <a:ext cx="402336" cy="274320"/>
          </a:xfrm>
          <a:prstGeom prst="rect">
            <a:avLst/>
          </a:prstGeom>
          <a:noFill/>
        </p:spPr>
        <p:txBody>
          <a:bodyPr wrap="square" lIns="63500" rIns="63500" t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Aptos"/>
              </a:rPr>
              <a:t>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965960"/>
            <a:ext cx="2441448" cy="219456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8FAFC"/>
                </a:solidFill>
                <a:latin typeface="Aptos"/>
              </a:rPr>
              <a:t>ADMIN CONSOLE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212848"/>
            <a:ext cx="2441448" cy="62179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0" i="0">
                <a:solidFill>
                  <a:srgbClr val="A5B4C7"/>
                </a:solidFill>
                <a:latin typeface="Aptos"/>
              </a:rPr>
              <a:t>Projects, teams, integrations,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0" i="0">
                <a:solidFill>
                  <a:srgbClr val="A5B4C7"/>
                </a:solidFill>
                <a:latin typeface="Aptos"/>
              </a:rPr>
              <a:t>API-key lifecycle &amp; audit evidence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.2" y="2377440"/>
            <a:ext cx="594360.0" cy="0"/>
          </a:xfrm>
          <a:prstGeom prst="line">
            <a:avLst/>
          </a:prstGeom>
          <a:ln w="21590">
            <a:solidFill>
              <a:srgbClr val="2B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.44" y="2377440"/>
            <a:ext cx="594360.0" cy="0"/>
          </a:xfrm>
          <a:prstGeom prst="line">
            <a:avLst/>
          </a:prstGeom>
          <a:ln w="21590">
            <a:solidFill>
              <a:srgbClr val="2B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4360" y="3931920"/>
            <a:ext cx="11000232" cy="1170432"/>
          </a:xfrm>
          <a:prstGeom prst="roundRect">
            <a:avLst>
              <a:gd name="adj" fmla="val 8000"/>
            </a:avLst>
          </a:prstGeom>
          <a:solidFill>
            <a:srgbClr val="1D304A"/>
          </a:solidFill>
          <a:ln w="12700"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4160520"/>
            <a:ext cx="2011680" cy="21031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22D3EE"/>
                </a:solidFill>
                <a:latin typeface="Aptos"/>
              </a:rPr>
              <a:t>PERSISTED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16352" y="4069080"/>
            <a:ext cx="8138160" cy="25603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Aptos"/>
              </a:rPr>
              <a:t>Incident record  →  workflow history  →  approval record  →  delivery links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4581144"/>
            <a:ext cx="10012680" cy="21031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A5B4C7"/>
                </a:solidFill>
                <a:latin typeface="Aptos"/>
              </a:rPr>
              <a:t>SQLite / SQLAlchemy stores incidents and telemetry; encrypted project integration settings are separated from operational workflow records; RCA PDFs and patch files are retained as artefacts.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5C6F86"/>
                </a:solidFill>
                <a:latin typeface="Aptos"/>
              </a:rPr>
              <a:t>PRISM  /  AI-ASSISTED INCIDENT 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6519672"/>
            <a:ext cx="2331720" cy="16459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C6F86"/>
                </a:solidFill>
                <a:latin typeface="Aptos"/>
              </a:rPr>
              <a:t>Technical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5943600" cy="20116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22D3EE"/>
                </a:solidFill>
                <a:latin typeface="Aptos Display"/>
              </a:rPr>
              <a:t>PRODUCTION READINESS: CURRENT FOUNDATION, NEXT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8"/>
            <a:ext cx="10881360" cy="47548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8FAFC"/>
                </a:solidFill>
                <a:latin typeface="Aptos Display"/>
              </a:rPr>
              <a:t>A pragmatic single-instance implementation with a clear enterprise path.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607040" cy="29260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A5B4C7"/>
                </a:solidFill>
                <a:latin typeface="Aptos"/>
              </a:rPr>
              <a:t>The distinction matters: Prism is deployable today, while scale-out capabilities should be planned deliberately.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35608"/>
            <a:ext cx="68580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320040" cy="20116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A5B4C7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19072"/>
            <a:ext cx="5358384" cy="434340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 w="12700"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5358384" cy="50292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56231"/>
            <a:ext cx="5358384" cy="20116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B1220"/>
                </a:solidFill>
                <a:latin typeface="Aptos"/>
              </a:rPr>
              <a:t>CURRENT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87168"/>
            <a:ext cx="1920240" cy="18288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34D399"/>
                </a:solidFill>
                <a:latin typeface="Aptos"/>
              </a:rPr>
              <a:t>FastAPI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0632" y="2487168"/>
            <a:ext cx="2926080" cy="34747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A5B4C7"/>
                </a:solidFill>
                <a:latin typeface="Aptos"/>
              </a:rPr>
              <a:t>Dedicated ingestion (:8000) and UI (:8080) processes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8680" y="3017520"/>
            <a:ext cx="4846320" cy="0"/>
          </a:xfrm>
          <a:prstGeom prst="line">
            <a:avLst/>
          </a:prstGeom>
          <a:ln w="8890">
            <a:solidFill>
              <a:srgbClr val="2B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3291840"/>
            <a:ext cx="1920240" cy="18288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34D399"/>
                </a:solidFill>
                <a:latin typeface="Aptos"/>
              </a:rPr>
              <a:t>Single source of truth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0632" y="3291840"/>
            <a:ext cx="2926080" cy="34747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A5B4C7"/>
                </a:solidFill>
                <a:latin typeface="Aptos"/>
              </a:rPr>
              <a:t>SQLite + SQLAlchemy, filesystem artefacts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8680" y="3822192"/>
            <a:ext cx="4846320" cy="0"/>
          </a:xfrm>
          <a:prstGeom prst="line">
            <a:avLst/>
          </a:prstGeom>
          <a:ln w="8890">
            <a:solidFill>
              <a:srgbClr val="2B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4096512"/>
            <a:ext cx="1920240" cy="18288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34D399"/>
                </a:solidFill>
                <a:latin typeface="Aptos"/>
              </a:rPr>
              <a:t>Operational controls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632" y="4096512"/>
            <a:ext cx="2926080" cy="34747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A5B4C7"/>
                </a:solidFill>
                <a:latin typeface="Aptos"/>
              </a:rPr>
              <a:t>API keys, sessions, RBAC, audit and workflow leases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8680" y="4626864"/>
            <a:ext cx="4846320" cy="0"/>
          </a:xfrm>
          <a:prstGeom prst="line">
            <a:avLst/>
          </a:prstGeom>
          <a:ln w="8890">
            <a:solidFill>
              <a:srgbClr val="2B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68680" y="4901184"/>
            <a:ext cx="1920240" cy="18288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34D399"/>
                </a:solidFill>
                <a:latin typeface="Aptos"/>
              </a:rPr>
              <a:t>Provider resilience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70632" y="4901184"/>
            <a:ext cx="2926080" cy="34747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A5B4C7"/>
                </a:solidFill>
                <a:latin typeface="Aptos"/>
              </a:rPr>
              <a:t>Retry/backoff and multi-provider LLM fallback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1719072"/>
            <a:ext cx="5358384" cy="4343400"/>
          </a:xfrm>
          <a:prstGeom prst="roundRect">
            <a:avLst>
              <a:gd name="adj" fmla="val 8000"/>
            </a:avLst>
          </a:prstGeom>
          <a:solidFill>
            <a:srgbClr val="17263D"/>
          </a:solidFill>
          <a:ln w="12700">
            <a:solidFill>
              <a:srgbClr val="2B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99632" y="1719072"/>
            <a:ext cx="5358384" cy="502920"/>
          </a:xfrm>
          <a:prstGeom prst="roundRect">
            <a:avLst>
              <a:gd name="adj" fmla="val 8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9632" y="1856231"/>
            <a:ext cx="5358384" cy="20116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B1220"/>
                </a:solidFill>
                <a:latin typeface="Aptos"/>
              </a:rPr>
              <a:t>EVOLUTION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2487168"/>
            <a:ext cx="1920240" cy="18288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BBF24"/>
                </a:solidFill>
                <a:latin typeface="Aptos"/>
              </a:rPr>
              <a:t>Scale &amp; availability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4" y="2487168"/>
            <a:ext cx="2926080" cy="34747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A5B4C7"/>
                </a:solidFill>
                <a:latin typeface="Aptos"/>
              </a:rPr>
              <a:t>PostgreSQL and a worker / queue model as volume grows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28232" y="3017520"/>
            <a:ext cx="4846320" cy="0"/>
          </a:xfrm>
          <a:prstGeom prst="line">
            <a:avLst/>
          </a:prstGeom>
          <a:ln w="8890">
            <a:solidFill>
              <a:srgbClr val="2B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28232" y="3291840"/>
            <a:ext cx="1920240" cy="18288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BBF24"/>
                </a:solidFill>
                <a:latin typeface="Aptos"/>
              </a:rPr>
              <a:t>Repeatable delivery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0184" y="3291840"/>
            <a:ext cx="2926080" cy="34747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A5B4C7"/>
                </a:solidFill>
                <a:latin typeface="Aptos"/>
              </a:rPr>
              <a:t>Container image, IaC and automated deployment pipeline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28232" y="3822192"/>
            <a:ext cx="4846320" cy="0"/>
          </a:xfrm>
          <a:prstGeom prst="line">
            <a:avLst/>
          </a:prstGeom>
          <a:ln w="8890">
            <a:solidFill>
              <a:srgbClr val="2B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28232" y="4096512"/>
            <a:ext cx="1920240" cy="18288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BBF24"/>
                </a:solidFill>
                <a:latin typeface="Aptos"/>
              </a:rPr>
              <a:t>Telemetry maturity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0184" y="4096512"/>
            <a:ext cx="2926080" cy="34747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A5B4C7"/>
                </a:solidFill>
                <a:latin typeface="Aptos"/>
              </a:rPr>
              <a:t>Persist and correlate OTLP traces &amp; metrics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28232" y="4626864"/>
            <a:ext cx="4846320" cy="0"/>
          </a:xfrm>
          <a:prstGeom prst="line">
            <a:avLst/>
          </a:prstGeom>
          <a:ln w="8890">
            <a:solidFill>
              <a:srgbClr val="2B3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28232" y="4901184"/>
            <a:ext cx="1920240" cy="18288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BBF24"/>
                </a:solidFill>
                <a:latin typeface="Aptos"/>
              </a:rPr>
              <a:t>Enterprise perimeter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0184" y="4901184"/>
            <a:ext cx="2926080" cy="34747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A5B4C7"/>
                </a:solidFill>
                <a:latin typeface="Aptos"/>
              </a:rPr>
              <a:t>TLS gateway, distributed limiting, OIDC / SSO as required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519672"/>
            <a:ext cx="7772400" cy="16459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5C6F86"/>
                </a:solidFill>
                <a:latin typeface="Aptos"/>
              </a:rPr>
              <a:t>PRISM  /  AI-ASSISTED INCIDENT RESPONSE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6519672"/>
            <a:ext cx="2331720" cy="16459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C6F86"/>
                </a:solidFill>
                <a:latin typeface="Aptos"/>
              </a:rPr>
              <a:t>Technical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5029200" cy="20116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22D3EE"/>
                </a:solidFill>
                <a:latin typeface="Aptos"/>
              </a:rPr>
              <a:t>THE PRISM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07592"/>
            <a:ext cx="9784080" cy="102412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3100" b="1" i="0">
                <a:solidFill>
                  <a:srgbClr val="F8FAFC"/>
                </a:solidFill>
                <a:latin typeface="Aptos Display"/>
              </a:rPr>
              <a:t>A faster path to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3100" b="1" i="0">
                <a:solidFill>
                  <a:srgbClr val="F8FAFC"/>
                </a:solidFill>
                <a:latin typeface="Aptos Display"/>
              </a:rPr>
              <a:t>responsible remediation.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6537960" cy="47548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A5B4C7"/>
                </a:solidFill>
                <a:latin typeface="Aptos"/>
              </a:rPr>
              <a:t>Prism brings observability, AI-assisted engineering analysis, accountable approval, and delivery automation together in one governed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3813048"/>
            <a:ext cx="109728" cy="109728"/>
          </a:xfrm>
          <a:prstGeom prst="roundRect">
            <a:avLst>
              <a:gd name="adj" fmla="val 8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3776472"/>
            <a:ext cx="1508760" cy="20116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1" i="0">
                <a:solidFill>
                  <a:srgbClr val="22D3EE"/>
                </a:solidFill>
                <a:latin typeface="Aptos"/>
              </a:rPr>
              <a:t>LESS TRIAGE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3472" y="3767328"/>
            <a:ext cx="5806440" cy="27432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40" b="0" i="0">
                <a:solidFill>
                  <a:srgbClr val="F8FAFC"/>
                </a:solidFill>
                <a:latin typeface="Aptos"/>
              </a:rPr>
              <a:t>Filter and prioritize noisy telemetry before costly investigation.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407408"/>
            <a:ext cx="109728" cy="109728"/>
          </a:xfrm>
          <a:prstGeom prst="roundRect">
            <a:avLst>
              <a:gd name="adj" fmla="val 8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4370832"/>
            <a:ext cx="1508760" cy="20116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1" i="0">
                <a:solidFill>
                  <a:srgbClr val="A78BFA"/>
                </a:solidFill>
                <a:latin typeface="Aptos"/>
              </a:rPr>
              <a:t>BETTER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3472" y="4361688"/>
            <a:ext cx="5806440" cy="27432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40" b="0" i="0">
                <a:solidFill>
                  <a:srgbClr val="F8FAFC"/>
                </a:solidFill>
                <a:latin typeface="Aptos"/>
              </a:rPr>
              <a:t>Give reviewers an RCA, fix proposal, tests, PDF and patch — not just an alert.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5001768"/>
            <a:ext cx="109728" cy="109728"/>
          </a:xfrm>
          <a:prstGeom prst="roundRect">
            <a:avLst>
              <a:gd name="adj" fmla="val 8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4965192"/>
            <a:ext cx="1508760" cy="201168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1" i="0">
                <a:solidFill>
                  <a:srgbClr val="FBBF24"/>
                </a:solidFill>
                <a:latin typeface="Aptos"/>
              </a:rPr>
              <a:t>CONTROLLED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3472" y="4956048"/>
            <a:ext cx="5806440" cy="27432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40" b="0" i="0">
                <a:solidFill>
                  <a:srgbClr val="F8FAFC"/>
                </a:solidFill>
                <a:latin typeface="Aptos"/>
              </a:rPr>
              <a:t>Preserve human accountability before any engineering-system change is initiated.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1078992"/>
            <a:ext cx="2194560" cy="4434840"/>
          </a:xfrm>
          <a:prstGeom prst="roundRect">
            <a:avLst>
              <a:gd name="adj" fmla="val 8000"/>
            </a:avLst>
          </a:prstGeom>
          <a:solidFill>
            <a:srgbClr val="1D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71432" y="1463040"/>
            <a:ext cx="1682496" cy="27432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SIGNAL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012680" y="1938528"/>
            <a:ext cx="0" cy="402336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71432" y="2450592"/>
            <a:ext cx="1682496" cy="27432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REASON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012680" y="2926080"/>
            <a:ext cx="0" cy="402336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71432" y="3438144"/>
            <a:ext cx="1682496" cy="27432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BBF24"/>
                </a:solidFill>
                <a:latin typeface="Aptos"/>
              </a:rPr>
              <a:t>APPROVE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012680" y="3913632"/>
            <a:ext cx="0" cy="402336"/>
          </a:xfrm>
          <a:prstGeom prst="line">
            <a:avLst/>
          </a:prstGeom>
          <a:ln w="2540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71432" y="4425696"/>
            <a:ext cx="1682496" cy="274320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DELIVER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54496"/>
            <a:ext cx="5303520" cy="164592"/>
          </a:xfrm>
          <a:prstGeom prst="rect">
            <a:avLst/>
          </a:prstGeom>
          <a:noFill/>
        </p:spPr>
        <p:txBody>
          <a:bodyPr wrap="square" lIns="63500" rIns="635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A5B4C7"/>
                </a:solidFill>
                <a:latin typeface="Aptos"/>
              </a:rPr>
              <a:t>PRISM  /  TECHNICAL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